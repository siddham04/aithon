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Helix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Intelligent SDLC Copilot — Requirement to delivery</a:t>
            </a:r>
          </a:p>
          <a:p>
            <a:r>
              <a:t>AI-Thon · Prototype Round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000"/>
              </a:spcAft>
              <a:defRPr sz="1800"/>
            </a:pPr>
            <a:r>
              <a:t>Title: Requirements rot before code is written.</a:t>
            </a:r>
          </a:p>
          <a:p>
            <a:pPr>
              <a:spcAft>
                <a:spcPts val="1000"/>
              </a:spcAft>
              <a:defRPr sz="1800"/>
            </a:pPr>
            <a:r>
              <a:t>Read this aloud first (1 sentence, the slide one-liner): *"Ambiguous</a:t>
            </a:r>
            <a:br/>
            <a:r>
              <a:t>requirements slow dev teams, and miscommunication causes rework — every</a:t>
            </a:r>
            <a:br/>
            <a:r>
              <a:t>team in this room knows the pain."*</a:t>
            </a:r>
          </a:p>
          <a:p>
            <a:pPr>
              <a:spcAft>
                <a:spcPts val="1000"/>
              </a:spcAft>
              <a:defRPr sz="1600"/>
            </a:pPr>
            <a:r>
              <a:t>| Pain (the *what*) | Source-of-truth (the *where*) | Cost today (the *how much*) |</a:t>
            </a:r>
            <a:br/>
            <a:r>
              <a:t>|---|---|---|</a:t>
            </a:r>
            <a:br/>
            <a:r>
              <a:t>| Unstructured input (email, PDF, transcripts, voice) → manual translation | PM / BA inbox | 3–5 days / sprint lost on backlog grooming |</a:t>
            </a:r>
            <a:br/>
            <a:r>
              <a:t>| Ambiguous scope → mid-sprint rework | Slack threads, hallway chats | ~30% of sprint capacity (industry baseline) |</a:t>
            </a:r>
            <a:br/>
            <a:r>
              <a:t>| No traceability from *"why"* to ticket | Hand-written Confluence pages | Audit failures, scope debates, *"who said this?"* |</a:t>
            </a:r>
            <a:br/>
            <a:r>
              <a:t>| Tests written after code | QA backlog | Defects found in production, not in design |</a:t>
            </a:r>
          </a:p>
          <a:p>
            <a:pPr>
              <a:spcAft>
                <a:spcPts val="1000"/>
              </a:spcAft>
              <a:defRPr sz="1800"/>
            </a:pPr>
            <a:r>
              <a:t>&gt; One line for the slide: *Teams spend 30–50% of every sprint</a:t>
            </a:r>
            <a:br/>
            <a:r>
              <a:t>&gt; turning words into tickets — and still can't prove where the tickets</a:t>
            </a:r>
            <a:br/>
            <a:r>
              <a:t>&gt; came from.*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Helix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000"/>
              </a:spcAft>
              <a:defRPr sz="1800"/>
            </a:pPr>
            <a:r>
              <a:t>Title: Helix is an AI Copilot for the entire SDLC.</a:t>
            </a:r>
          </a:p>
          <a:p>
            <a:pPr>
              <a:spcAft>
                <a:spcPts val="1000"/>
              </a:spcAft>
              <a:defRPr sz="1800"/>
            </a:pPr>
            <a:r>
              <a:t>One-line opener: *"Helix is a multi-agent SDLC operating layer —</a:t>
            </a:r>
            <a:br/>
            <a:r>
              <a:t>not a summarizer, not a chatbot. It turns a messy requirement into a</a:t>
            </a:r>
            <a:br/>
            <a:r>
              <a:t>release-ready delivery package in under 10 minutes, with full</a:t>
            </a:r>
            <a:br/>
            <a:r>
              <a:t>traceability from clause to ticket."*</a:t>
            </a:r>
          </a:p>
          <a:p>
            <a:pPr>
              <a:spcAft>
                <a:spcPts val="1000"/>
              </a:spcAft>
              <a:defRPr sz="1800"/>
            </a:pPr>
            <a:r>
              <a:t>Simplified architecture (read in 10 seconds):</a:t>
            </a:r>
          </a:p>
          <a:p>
            <a:pPr>
              <a:spcAft>
                <a:spcPts val="1000"/>
              </a:spcAft>
              <a:defRPr sz="1600"/>
            </a:pPr>
            <a:r>
              <a:t>``mermaid</a:t>
            </a:r>
            <a:br/>
            <a:r>
              <a:t>flowchart LR</a:t>
            </a:r>
            <a:br/>
            <a:r>
              <a:t>    Browser["Browser&lt;br/&gt;(React + Vite SPA)"] --&gt;|REST + SSE| API["FastAPI Backend&lt;br/&gt;(11-stage orchestrator)"]</a:t>
            </a:r>
            <a:br/>
            <a:r>
              <a:t>    API --&gt; Agents["10 Specialized AI Agents&lt;br/&gt;(Analyzer · Ambiguity · PM ·&lt;br/&gt;Architect · Estimator · QA ·&lt;br/&gt;Risk · Scrum · Quality · Review)"]</a:t>
            </a:r>
            <a:br/>
            <a:r>
              <a:t>    Agents --&gt;|writes graph| DB[("PostgreSQL + RAG&lt;br/&gt;(FAISS / pgvector)")]</a:t>
            </a:r>
            <a:br/>
            <a:r>
              <a:t>    DB --&gt;|reads graph| Exports[["Exports&lt;br/&gt;Jira CSV · ADO · GitHub · Markdown · JSON"]]</a:t>
            </a:r>
            <a:br/>
            <a:r>
              <a:t>    API -.-&gt;|3-tier resilience| Fallback{{"Tier 2 mock&lt;br/&gt;+ Tier 3 heuristics"}}</a:t>
            </a:r>
            <a:br/>
            <a:r>
              <a:t>    Fallback -.-&gt; Agents</a:t>
            </a:r>
            <a:br/>
            <a:r>
              <a:t>`</a:t>
            </a:r>
          </a:p>
          <a:p>
            <a:pPr>
              <a:spcAft>
                <a:spcPts val="1000"/>
              </a:spcAft>
              <a:defRPr sz="1800"/>
            </a:pPr>
            <a:r>
              <a:t>Three bets stacked together — each a hard problem on its own:</a:t>
            </a:r>
          </a:p>
          <a:p>
            <a:pPr>
              <a:spcAft>
                <a:spcPts val="1000"/>
              </a:spcAft>
              <a:defRPr sz="1600"/>
            </a:pPr>
            <a:r>
              <a:t>1. Multi-agent pipeline (10 specialized roles). Quality Scorer →</a:t>
            </a:r>
            <a:br/>
            <a:r>
              <a:t>   Review Board (×5) → Ambiguity / Risk → Requirement Analyst →</a:t>
            </a:r>
            <a:br/>
            <a:r>
              <a:t>   Product Manager → Architect → Estimator → Scrum Master → Test</a:t>
            </a:r>
            <a:br/>
            <a:r>
              <a:t>   Architect — each a focused LLM pass, not one monolithic prompt.</a:t>
            </a:r>
            <a:br/>
            <a:r>
              <a:t>2. Clause-grounded provenance. Every story, task, test, and risk</a:t>
            </a:r>
            <a:br/>
            <a:r>
              <a:t>   carries source_clause_ids pointing back to the exact sentence that</a:t>
            </a:r>
            <a:br/>
            <a:r>
              <a:t>   produced it.</a:t>
            </a:r>
            <a:br/>
            <a:r>
              <a:t>3. Release-gate + human approval. approved_for_export flags on</a:t>
            </a:r>
            <a:br/>
            <a:r>
              <a:t>   stories and tasks; ?approved_only=true` on export means</a:t>
            </a:r>
            <a:br/>
            <a:r>
              <a:t>   governance is opt-out, not opt-in.</a:t>
            </a:r>
          </a:p>
          <a:p>
            <a:pPr>
              <a:spcAft>
                <a:spcPts val="1000"/>
              </a:spcAft>
              <a:defRPr sz="1800"/>
            </a:pPr>
            <a:r>
              <a:t>&gt; One line for the slide: *Multi-agent collaboration + provenance +</a:t>
            </a:r>
            <a:br/>
            <a:r>
              <a:t>&gt; human gate = the first AI tool a regulated team can actually ship on.*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Demo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000"/>
              </a:spcAft>
              <a:defRPr sz="1800"/>
            </a:pPr>
            <a:r>
              <a:t>Title: This is what we feed Helix. *(Then we touch nothing for the next 60 seconds.)*</a:t>
            </a:r>
          </a:p>
          <a:p>
            <a:pPr>
              <a:spcAft>
                <a:spcPts val="1000"/>
              </a:spcAft>
              <a:defRPr sz="1600"/>
            </a:pPr>
            <a:r>
              <a:t>Read this aloud: *"We're using the same sample requirement that</a:t>
            </a:r>
            <a:br/>
            <a:r>
              <a:t>ships in the product and that our CI runs against on every PR — a</a:t>
            </a:r>
            <a:br/>
            <a:r>
              <a:t>Checkout Revamp Initiative PRD with deliberate ambiguities a real</a:t>
            </a:r>
            <a:br/>
            <a:r>
              <a:t>PM would write. Three quantitative SLOs. Three deliberately-vague</a:t>
            </a:r>
            <a:br/>
            <a:r>
              <a:t>phrases. Three personas. Six functional + four non-functional</a:t>
            </a:r>
            <a:br/>
            <a:r>
              <a:t>requirements. Read it on screen — we change nothing before pressing</a:t>
            </a:r>
            <a:br/>
            <a:r>
              <a:t>*Launch AI Team*."*</a:t>
            </a:r>
          </a:p>
          <a:p>
            <a:pPr>
              <a:spcAft>
                <a:spcPts val="1000"/>
              </a:spcAft>
              <a:defRPr sz="1600"/>
            </a:pPr>
            <a:r>
              <a:t>&gt; *Title:* Checkout Revamp Initiative</a:t>
            </a:r>
            <a:br/>
            <a:r>
              <a:t>&gt;</a:t>
            </a:r>
            <a:br/>
            <a:r>
              <a:t>&gt; *Goal:* Cut cart abandonment by delivering a fast, trustworthy</a:t>
            </a:r>
            <a:br/>
            <a:r>
              <a:t>&gt; checkout flow for returning shoppers and a clear ops surface for</a:t>
            </a:r>
            <a:br/>
            <a:r>
              <a:t>&gt; support agents.</a:t>
            </a:r>
            <a:br/>
            <a:r>
              <a:t>&gt;</a:t>
            </a:r>
            <a:br/>
            <a:r>
              <a:t>&gt; *Functional requirements:* 3-step checkout · delivery date estimate</a:t>
            </a:r>
            <a:br/>
            <a:r>
              <a:t>&gt; within 200 ms P95 · saved cards + one digital wallet *(vendor</a:t>
            </a:r>
            <a:br/>
            <a:r>
              <a:t>&gt; selection TBD pending procurement review)* · atomic inventory</a:t>
            </a:r>
            <a:br/>
            <a:r>
              <a:t>&gt; decrement on order confirmation · support-agent refund action</a:t>
            </a:r>
            <a:br/>
            <a:r>
              <a:t>&gt; *("fast" — legal still drafting SLA wording)* · local-currency</a:t>
            </a:r>
            <a:br/>
            <a:r>
              <a:t>&gt; display *("where it makes sense" — exact FX/rounding policy</a:t>
            </a:r>
            <a:br/>
            <a:r>
              <a:t>&gt; undefined)*.</a:t>
            </a:r>
            <a:br/>
            <a:r>
              <a:t>&gt;</a:t>
            </a:r>
            <a:br/>
            <a:r>
              <a:t>&gt; *Non-functional:* p95 checkout latency **&lt; 300 ms at 1k concurrent</a:t>
            </a:r>
            <a:br/>
            <a:r>
              <a:t>&gt; shoppers · payment provider uptime 99.9% monthly** · PCI scope</a:t>
            </a:r>
            <a:br/>
            <a:r>
              <a:t>&gt; SAQ-A · short-lived JWTs (≤ 15 min) refreshed via secure HTTP-only</a:t>
            </a:r>
            <a:br/>
            <a:r>
              <a:t>&gt; cookie.</a:t>
            </a:r>
          </a:p>
          <a:p>
            <a:pPr>
              <a:spcAft>
                <a:spcPts val="1000"/>
              </a:spcAft>
              <a:defRPr sz="1800"/>
            </a:pPr>
            <a:r>
              <a:t>Why this brief, not a hand-crafted one:</a:t>
            </a:r>
          </a:p>
          <a:p>
            <a:pPr>
              <a:spcAft>
                <a:spcPts val="1000"/>
              </a:spcAft>
              <a:defRPr sz="1600"/>
            </a:pPr>
            <a:r>
              <a:t>- Lives in the app at helix-frontend/src/constants/sampleRequirement.js.</a:t>
            </a:r>
            <a:br/>
            <a:r>
              <a:t>- CI-gated — helix-backend/tests/test_golden_pipeline.py runs the</a:t>
            </a:r>
            <a:br/>
            <a:r>
              <a:t>  full 11-stage pipeline against this exact text on every PR and</a:t>
            </a:r>
            <a:br/>
            <a:r>
              <a:t>  asserts 8 non-negotiable invariants in ~2 seconds. See</a:t>
            </a:r>
            <a:br/>
            <a:r>
              <a:t>  docs/GOLDEN_DOMAIN.md.</a:t>
            </a:r>
            <a:br/>
            <a:r>
              <a:t>- Deliberately messy. Three ambiguities (*vendor TBD*, *"fast"</a:t>
            </a:r>
            <a:br/>
            <a:r>
              <a:t>  refunds*, *"where it makes sense"*) are seeded so the Ambiguity</a:t>
            </a:r>
            <a:br/>
            <a:r>
              <a:t>  agent has clear, demoable wins — judges see real catches, not</a:t>
            </a:r>
            <a:br/>
            <a:r>
              <a:t>  cherry-picked ones.</a:t>
            </a:r>
          </a:p>
          <a:p>
            <a:pPr>
              <a:spcAft>
                <a:spcPts val="1000"/>
              </a:spcAft>
              <a:defRPr sz="1800"/>
            </a:pPr>
            <a:r>
              <a:t>state with the brief visible in the ingest panel.)*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 Execution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000"/>
              </a:spcAft>
              <a:defRPr sz="1800"/>
            </a:pPr>
            <a:r>
              <a:t>Title: 11 stages, streamed live. No fake timers.</a:t>
            </a:r>
          </a:p>
          <a:p>
            <a:pPr>
              <a:spcAft>
                <a:spcPts val="1000"/>
              </a:spcAft>
              <a:defRPr sz="1800"/>
            </a:pPr>
            <a:r>
              <a:t>Click path on stage: Mission Control → "Launch AI Team".</a:t>
            </a:r>
            <a:br/>
            <a:r>
              <a:t>The SSE stream renders each of the 11 agent stages into a live</a:t>
            </a:r>
            <a:br/>
            <a:r>
              <a:t>timeline with per-stage elapsed_ms.</a:t>
            </a:r>
          </a:p>
          <a:p>
            <a:pPr>
              <a:spcAft>
                <a:spcPts val="1000"/>
              </a:spcAft>
              <a:defRPr sz="1800"/>
            </a:pPr>
            <a:r>
              <a:t>Narrate the cadence (timer-anchored):</a:t>
            </a:r>
          </a:p>
          <a:p>
            <a:pPr>
              <a:spcAft>
                <a:spcPts val="1000"/>
              </a:spcAft>
              <a:defRPr sz="1600"/>
            </a:pPr>
            <a:r>
              <a:t>| Time | What's on screen | Say |</a:t>
            </a:r>
            <a:br/>
            <a:r>
              <a:t>|---|---|---|</a:t>
            </a:r>
            <a:br/>
            <a:r>
              <a:t>| 0:00 | Mission Control after click | *"Same SSE stream every time — no fake timers."* |</a:t>
            </a:r>
            <a:br/>
            <a:r>
              <a:t>| 0:30 | quality + review running in parallel | *"Two agents in parallel — Phase-2 parallel orchestrator."* |</a:t>
            </a:r>
            <a:br/>
            <a:r>
              <a:t>| 1:30 | stories complete | *"Every story already has clause citations."* |</a:t>
            </a:r>
            <a:br/>
            <a:r>
              <a:t>| 2:30 | architecture + effort_sprint in parallel | *"Mermaid diagram + sprint plan in one beat."* |</a:t>
            </a:r>
            <a:br/>
            <a:r>
              <a:t>| 3:30 | tests + jira | *"BDD test cases + Jira-ready backlog."* |</a:t>
            </a:r>
            <a:br/>
            <a:r>
              <a:t>| 4:00 | readiness → "PROJECT READY" finale | *"Readiness comes from live delivery gates — not a constant."* |</a:t>
            </a:r>
          </a:p>
          <a:p>
            <a:pPr>
              <a:spcAft>
                <a:spcPts val="1000"/>
              </a:spcAft>
              <a:defRPr sz="1800"/>
            </a:pPr>
            <a:r>
              <a:t>The money line — the "Detected …" callout on the finale:</a:t>
            </a:r>
          </a:p>
          <a:p>
            <a:pPr>
              <a:spcAft>
                <a:spcPts val="1000"/>
              </a:spcAft>
              <a:defRPr sz="1800"/>
            </a:pPr>
            <a:r>
              <a:t>&gt; ***"In ~4 minutes Helix detected from these 3 source clauses:</a:t>
            </a:r>
            <a:br/>
            <a:r>
              <a:t>&gt; 2 user stories, 3 engineering tasks decomposed into</a:t>
            </a:r>
            <a:br/>
            <a:r>
              <a:t>&gt; 12 Jira-ready sub-tasks, 1 BDD test case, 1 ambiguity</a:t>
            </a:r>
            <a:br/>
            <a:r>
              <a:t>&gt; needing PM clarification, and 1 non-functional risk flagged for</a:t>
            </a:r>
            <a:br/>
            <a:r>
              <a:t>&gt; the architect — with 9 trace links connecting every artifact</a:t>
            </a:r>
            <a:br/>
            <a:r>
              <a:t>&gt; back to the exact sentence it came from."***</a:t>
            </a:r>
          </a:p>
          <a:p>
            <a:pPr>
              <a:spcAft>
                <a:spcPts val="1000"/>
              </a:spcAft>
              <a:defRPr sz="1800"/>
            </a:pPr>
            <a:r>
              <a:t>from Slide 3 — captured in docs/sample-exports/checkout-revamp.backlog.json</a:t>
            </a:r>
            <a:br/>
            <a:r>
              <a:t>and verified by the CI-gated golden contract.)*</a:t>
            </a:r>
          </a:p>
          <a:p>
            <a:pPr>
              <a:spcAft>
                <a:spcPts val="1000"/>
              </a:spcAft>
              <a:defRPr sz="1800"/>
            </a:pPr>
            <a:r>
              <a:t>Fallback if the live SSE stalls: play</a:t>
            </a:r>
            <a:br/>
            <a:r>
              <a:t>helix-frontend/docs/judge-screenshots/judge-walkthrough.webm</a:t>
            </a:r>
            <a:br/>
            <a:r>
              <a:t>(22 s, ~2 MB) — same pipeline, recorded on the same project.</a:t>
            </a:r>
            <a:br/>
            <a:r>
              <a:t>Full recovery options: docs/DEMO_RECOVERY.md.</a:t>
            </a:r>
          </a:p>
          <a:p>
            <a:pPr>
              <a:spcAft>
                <a:spcPts val="1000"/>
              </a:spcAft>
              <a:defRPr sz="1800"/>
            </a:pPr>
            <a:r>
              <a:t>timeline visible — Frame 2 in docs/SCREENSHOT_TOUR.md.)*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Stories &amp; Tasks (the Kanban + Trace beat)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000"/>
              </a:spcAft>
              <a:defRPr sz="1800"/>
            </a:pPr>
            <a:r>
              <a:t>Title: Every artifact cites the clause it came from. Click and prove it.</a:t>
            </a:r>
          </a:p>
          <a:p>
            <a:pPr>
              <a:spcAft>
                <a:spcPts val="1000"/>
              </a:spcAft>
              <a:defRPr sz="1800"/>
            </a:pPr>
            <a:r>
              <a:t>One screen, every artifact — auto-opens on the SSE complete</a:t>
            </a:r>
            <a:br/>
            <a:r>
              <a:t>event. Drive the cursor in this order:</a:t>
            </a:r>
          </a:p>
          <a:p>
            <a:pPr>
              <a:spcAft>
                <a:spcPts val="1000"/>
              </a:spcAft>
              <a:defRPr sz="1600"/>
            </a:pPr>
            <a:r>
              <a:t>1. Approval checklist banner — "Stories ✓ · Tasks ✓ · Test cases ✓"</a:t>
            </a:r>
            <a:br/>
            <a:r>
              <a:t>2. Kanban view — stories by status, drag-and-drop. *"This is what</a:t>
            </a:r>
            <a:br/>
            <a:r>
              <a:t>   a sprint board looks like after Helix — every card already has its</a:t>
            </a:r>
            <a:br/>
            <a:r>
              <a:t>   acceptance criteria and source clauses."*</a:t>
            </a:r>
            <a:br/>
            <a:r>
              <a:t>3. Traceability chain card — **3 clauses → 2 stories → 4 tasks →</a:t>
            </a:r>
            <a:br/>
            <a:r>
              <a:t>   2 tests · 9 trace links**. *Click any node.*</a:t>
            </a:r>
            <a:br/>
            <a:r>
              <a:t>4. Trace tab — pick one task → see the source clause highlighted</a:t>
            </a:r>
            <a:br/>
            <a:r>
              <a:t>   in the original brief. *"This is the difference between a chat</a:t>
            </a:r>
            <a:br/>
            <a:r>
              <a:t>   answer and a system-of-record answer."*</a:t>
            </a:r>
            <a:br/>
            <a:r>
              <a:t>5. Tests panel — Given/When/Then BDD cards. *"QA inherits these</a:t>
            </a:r>
            <a:br/>
            <a:r>
              <a:t>   on day 1, not week 3."*</a:t>
            </a:r>
            <a:br/>
            <a:r>
              <a:t>6. Risks + Ambiguities — *"Notice the ambiguity Helix caught:</a:t>
            </a:r>
            <a:br/>
            <a:r>
              <a:t>   peak-vs-sustained load. That's exactly the thing that derails</a:t>
            </a:r>
            <a:br/>
            <a:r>
              <a:t>   sprint 2."*</a:t>
            </a:r>
          </a:p>
          <a:p>
            <a:pPr>
              <a:spcAft>
                <a:spcPts val="1000"/>
              </a:spcAft>
              <a:defRPr sz="1800"/>
            </a:pPr>
            <a:r>
              <a:t>&gt; The slide one-line: *Provenance isn't a feature — it's a Pydantic</a:t>
            </a:r>
            <a:br/>
            <a:r>
              <a:t>&gt; field validated by a CI test on every PR</a:t>
            </a:r>
            <a:br/>
            <a:r>
              <a:t>&gt; (tests/test_golden_pipeline.py::test_every_artifact_cites_a_clause).*</a:t>
            </a:r>
          </a:p>
          <a:p>
            <a:pPr>
              <a:spcAft>
                <a:spcPts val="1000"/>
              </a:spcAft>
              <a:defRPr sz="1800"/>
            </a:pPr>
            <a:r>
              <a:t>chain + Tests panel. Frames 4 + 6 in docs/SCREENSHOT_TOUR.md.)*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Export &amp; 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000"/>
              </a:spcAft>
              <a:defRPr sz="1800"/>
            </a:pPr>
            <a:r>
              <a:t>Title: Approve → Export → Real Jira. Measured in hours and dollars.</a:t>
            </a:r>
          </a:p>
          <a:p>
            <a:pPr>
              <a:spcAft>
                <a:spcPts val="1000"/>
              </a:spcAft>
              <a:defRPr sz="1800"/>
            </a:pPr>
            <a:r>
              <a:t>The governance beat (30 seconds, owns the credibility moment):</a:t>
            </a:r>
          </a:p>
          <a:p>
            <a:pPr>
              <a:spcAft>
                <a:spcPts val="1000"/>
              </a:spcAft>
              <a:defRPr sz="1600"/>
            </a:pPr>
            <a:r>
              <a:t>1. Toggle one story to "Approved for export" (the approved_for_export</a:t>
            </a:r>
            <a:br/>
            <a:r>
              <a:t>   field — opt-out governance, not opt-in).</a:t>
            </a:r>
            <a:br/>
            <a:r>
              <a:t>2. Click Export → Jira CSV with "Only approved items" ticked.</a:t>
            </a:r>
            <a:br/>
            <a:r>
              <a:t>3. Open the CSV → only approved rows present, with **Epic → Story →</a:t>
            </a:r>
            <a:br/>
            <a:r>
              <a:t>   Task → Sub-task hierarchy + Parent links** ready to drop into Jira.</a:t>
            </a:r>
            <a:br/>
            <a:r>
              <a:t>4. Or click "Push to Jira REST" for a live API push (drops back to</a:t>
            </a:r>
            <a:br/>
            <a:r>
              <a:t>   dry-run if JIRA_* env not set).</a:t>
            </a:r>
          </a:p>
          <a:p>
            <a:pPr>
              <a:spcAft>
                <a:spcPts val="1000"/>
              </a:spcAft>
              <a:defRPr sz="1800"/>
            </a:pPr>
            <a:r>
              <a:t>&gt; Say: *"This is the part most demos skip. Approval is a Pydantic</a:t>
            </a:r>
            <a:br/>
            <a:r>
              <a:t>&gt; field on every story and task; the export filter is one line.</a:t>
            </a:r>
            <a:br/>
            <a:r>
              <a:t>&gt; Same path for Azure DevOps CSV, GitHub Issues JSON, Markdown brief,</a:t>
            </a:r>
            <a:br/>
            <a:r>
              <a:t>&gt; and live Jira REST push."*</a:t>
            </a:r>
          </a:p>
          <a:p>
            <a:pPr>
              <a:spcAft>
                <a:spcPts val="1000"/>
              </a:spcAft>
              <a:defRPr sz="1800"/>
            </a:pPr>
            <a:r>
              <a:t>The impact numbers (defensibly sourced):</a:t>
            </a:r>
          </a:p>
          <a:p>
            <a:pPr>
              <a:spcAft>
                <a:spcPts val="1000"/>
              </a:spcAft>
              <a:defRPr sz="1600"/>
            </a:pPr>
            <a:r>
              <a:t>| Metric | Manual baseline | Helix | Source |</a:t>
            </a:r>
            <a:br/>
            <a:r>
              <a:t>|---|---|---|---|</a:t>
            </a:r>
            <a:br/>
            <a:r>
              <a:t>| Time to backlog | ~4 hours / brief | ~4 minutes (mock) / ~3–5 min (live LLM) | helix-backend/app/agents/orchestrator.py heuristic; phase3-workflow-results.json wall-clock |</a:t>
            </a:r>
            <a:br/>
            <a:r>
              <a:t>| Cost per brief | ~$300 (4 hr × engineer-min rate) | ~$0.90–$1.20 (live LLM) / $0 (mock) | ENGINEER_MIN_COST_USD constant; Azure o3 token rates |</a:t>
            </a:r>
            <a:br/>
            <a:r>
              <a:t>| Coverage of source clauses | *"we'll get to it"* | coverage_score returned on every run | ProductivityMetrics |</a:t>
            </a:r>
            <a:br/>
            <a:r>
              <a:t>| Traceability | 0% (manual) | citation_item_rate reported per run | GET /api/artifacts/{id} |</a:t>
            </a:r>
            <a:br/>
            <a:r>
              <a:t>| Audit-ready export | spreadsheets, copy-paste | ?approved_only=true filter | helix-backend/app/services/export_filter.py |</a:t>
            </a:r>
          </a:p>
          <a:p>
            <a:pPr>
              <a:spcAft>
                <a:spcPts val="1000"/>
              </a:spcAft>
              <a:defRPr sz="1800"/>
            </a:pPr>
            <a:r>
              <a:t>&gt; The slide one-liner: ***~98% reduction in upfront SDLC</a:t>
            </a:r>
            <a:br/>
            <a:r>
              <a:t>&gt; structuring time, 100% clause-grounded traceability, ~$1 per</a:t>
            </a:r>
            <a:br/>
            <a:r>
              <a:t>&gt; pipeline run, with an opt-out human gate.***</a:t>
            </a:r>
          </a:p>
          <a:p>
            <a:pPr>
              <a:spcAft>
                <a:spcPts val="1000"/>
              </a:spcAft>
              <a:defRPr sz="1800"/>
            </a:pPr>
            <a:r>
              <a:t>table. Frame 7 in docs/SCREENSHOT_TOUR.md.)*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Technical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000"/>
              </a:spcAft>
              <a:defRPr sz="1800"/>
            </a:pPr>
            <a:r>
              <a:t>Title: Multi-agent is now table stakes. *Three things* separate Helix.</a:t>
            </a:r>
          </a:p>
          <a:p>
            <a:pPr>
              <a:spcAft>
                <a:spcPts val="1000"/>
              </a:spcAft>
              <a:defRPr sz="1800"/>
            </a:pPr>
            <a:r>
              <a:t>Read this aloud first: *"Judges have already seen three multi-agent</a:t>
            </a:r>
            <a:br/>
            <a:r>
              <a:t>demos today. The three things Helix has that the others don't — every</a:t>
            </a:r>
            <a:br/>
            <a:r>
              <a:t>one provable in code in 60 seconds — are these."*</a:t>
            </a:r>
          </a:p>
          <a:p>
            <a:pPr>
              <a:spcAft>
                <a:spcPts val="1000"/>
              </a:spcAft>
              <a:defRPr sz="1600"/>
            </a:pPr>
            <a:r>
              <a:t>| Pillar | The claim | The code | The contract |</a:t>
            </a:r>
            <a:br/>
            <a:r>
              <a:t>|---|---|---|---|</a:t>
            </a:r>
            <a:br/>
            <a:r>
              <a:t>| 1. Traceable clause graph | Every story, task, test, risk carries a source_clause_ids field validated against the real clause set — provenance you can prove, not citations you have to trust | helix-backend/app/agents/clause_utils.py::filter_clause_ids · app/models.py · app/services/traceability.py | tests/test_golden_pipeline.py::test_every_artifact_cites_a_clause — 100% of stories, ≥75% of tasks, every PR |</a:t>
            </a:r>
            <a:br/>
            <a:r>
              <a:t>| 2. Automated ambiguity workflow | A dedicated agent that finds vague language, classifies it via a typed taxonomy, and drafts the clarifying question + suggested resolution — *before* the sprint starts | helix-backend/app/agents/ambiguity.py · AmbiguityKind enum · vague-phrase detector in mock_agents.py | tests/test_golden_pipeline.py::test_ambiguities_and_risks_surface — ≥2 ambiguities on the golden requirement |</a:t>
            </a:r>
            <a:br/>
            <a:r>
              <a:t>| 3. 3-tier provider resilience | Azure OpenAI → clause-grounded deterministic mock → heuristic guarantors. Pipeline is never empty. Demo can't die. Full run with zero LLM keys in ~2 seconds | app/services/ai_service.py (Tier 1) · app/services/mock_agents.py (Tier 2) · app/agents/scrum_master.py::_heuristic_tasks_from_stories (Tier 3) | tests/test_golden_pipeline.py — 8 invariants, 2.07 s, gated by .github/workflows/golden-pipeline.yml |</a:t>
            </a:r>
          </a:p>
          <a:p>
            <a:pPr>
              <a:spcAft>
                <a:spcPts val="1000"/>
              </a:spcAft>
              <a:defRPr sz="1800"/>
            </a:pPr>
            <a:r>
              <a:t>Tech stack at a glance:</a:t>
            </a:r>
          </a:p>
          <a:p>
            <a:pPr>
              <a:spcAft>
                <a:spcPts val="1000"/>
              </a:spcAft>
              <a:defRPr sz="1600"/>
            </a:pPr>
            <a:r>
              <a:t>- Frontend: React 19 · TypeScript · Vite 8 · GSAP / Three.js animation surface · Recharts</a:t>
            </a:r>
            <a:br/>
            <a:r>
              <a:t>- Backend: Python 3.11 · FastAPI · Pydantic v2 · SSE streaming · Celery + Redis (long jobs)</a:t>
            </a:r>
            <a:br/>
            <a:r>
              <a:t>- AI: Azure OpenAI o3 (JSON mode) + clause-grounded mock + heuristic guarantors (3-tier resilience)</a:t>
            </a:r>
            <a:br/>
            <a:r>
              <a:t>- Data: PostgreSQL (graph) · Redis (Celery) · FAISS + sentence-transformers (RAG)</a:t>
            </a:r>
            <a:br/>
            <a:r>
              <a:t>- Classical ML: scikit-learn — IsolationForest task anomalies, TF-IDF cosine duplicate-story detection</a:t>
            </a:r>
          </a:p>
          <a:p>
            <a:pPr>
              <a:spcAft>
                <a:spcPts val="1000"/>
              </a:spcAft>
              <a:defRPr sz="1800"/>
            </a:pPr>
            <a:r>
              <a:t>How Helix compares to the multi-agent hackathon winners judges have already seen (compact view — full table in Appendix B):</a:t>
            </a:r>
          </a:p>
          <a:p>
            <a:pPr>
              <a:spcAft>
                <a:spcPts val="1000"/>
              </a:spcAft>
              <a:defRPr sz="1600"/>
            </a:pPr>
            <a:r>
              <a:t>| Winner *(award)* | Domain | Where Helix differs |</a:t>
            </a:r>
            <a:br/>
            <a:r>
              <a:t>|---|---|---|</a:t>
            </a:r>
            <a:br/>
            <a:r>
              <a:t>| RiskWise *(Best Overall, MS Agents Hack)* | Supply-chain risk surfacing | Same multi-agent shape, but Helix is end-to-end SDLC (stories → tasks → tests → exports) — risk is just 1 of our 10 agents |</a:t>
            </a:r>
            <a:br/>
            <a:r>
              <a:t>| Apollo *(Best C#, MS Hack)* | Multi-agent research synthesis | Apollo's agents are open-research; Helix's are role-typed for the SDLC (PM / Architect / QA / Risk / Estimator) — output is a typed graph, not a report |</a:t>
            </a:r>
            <a:br/>
            <a:r>
              <a:t>| RouteOpt — TCS *(1st, NVIDIA NeMo Hack)* | NL → fleet-route optimization | Same NL-input → structured-output pattern, different domain — Helix targets the *requirements-to-tickets* mile of the SDLC instead of physical route planning |</a:t>
            </a:r>
            <a:br/>
            <a:r>
              <a:t>| NVIDIA OpenCodeReview *(2nd, NeMo Hack)* | Agentic PR code review | Helix runs upstream of code — turns requirements into the artifacts that coders eventually review; complementary stack, not competitor |</a:t>
            </a:r>
            <a:br/>
            <a:r>
              <a:t>| WorkWizee *(Best Copilot, MS Hack)* | Dev-workflow automation in Teams | Workflow scripting across Jira / Bitbucket / Confluence; Helix is about source-of-truth provenance for the artifacts those workflows act on |</a:t>
            </a:r>
          </a:p>
          <a:p>
            <a:pPr>
              <a:spcAft>
                <a:spcPts val="1000"/>
              </a:spcAft>
              <a:defRPr sz="1800"/>
            </a:pPr>
            <a:r>
              <a:t>&gt; The slide one-liner: *Provenance, ambiguity-as-a-product, and a</a:t>
            </a:r>
            <a:br/>
            <a:r>
              <a:t>&gt; pipeline that survives a network outage — all three proven by a CI</a:t>
            </a:r>
            <a:br/>
            <a:r>
              <a:t>&gt; test that runs in 2 seconds. **No demo on stage next to ours will</a:t>
            </a:r>
            <a:br/>
            <a:r>
              <a:t>&gt; have any of them.***</a:t>
            </a:r>
          </a:p>
          <a:p>
            <a:pPr>
              <a:spcAft>
                <a:spcPts val="1000"/>
              </a:spcAft>
              <a:defRPr sz="1800"/>
            </a:pPr>
            <a:r>
              <a:t>Full deep-dive for Q&amp;A: docs/NOVELTY.md.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Team &amp; Future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000"/>
              </a:spcAft>
              <a:defRPr sz="1800"/>
            </a:pPr>
            <a:r>
              <a:t>Title: Three engineers, three pillars. One additive roadmap.</a:t>
            </a:r>
          </a:p>
          <a:p>
            <a:pPr>
              <a:spcAft>
                <a:spcPts val="1000"/>
              </a:spcAft>
              <a:defRPr sz="1800"/>
            </a:pPr>
            <a:r>
              <a:t>Three-pillar team (15-second opener): *"Helix is built by three</a:t>
            </a:r>
            <a:br/>
            <a:r>
              <a:t>engineers with clean ownership across backend AI, frontend / UX, and</a:t>
            </a:r>
            <a:br/>
            <a:r>
              <a:t>product / QA — every member owns code we can open live."*</a:t>
            </a:r>
          </a:p>
          <a:p>
            <a:pPr>
              <a:spcAft>
                <a:spcPts val="1000"/>
              </a:spcAft>
              <a:defRPr sz="1600"/>
            </a:pPr>
            <a:r>
              <a:t>| Member | Pillar | What they ship |</a:t>
            </a:r>
            <a:br/>
            <a:r>
              <a:t>|---|---|---|</a:t>
            </a:r>
            <a:br/>
            <a:r>
              <a:t>| Siddham Jain | Tech Lead — AI Backend &amp; Orchestration | 11-stage demo_orchestrator.py, 10 specialized agents, 3-tier provider resilience, FAISS RAG, FastAPI + SSE, CI-gated golden-pipeline contract |</a:t>
            </a:r>
            <a:br/>
            <a:r>
              <a:t>| Shubham Gatkal | Frontend &amp; Design Engineering | React 19 + Vite SPA, GSAP / Three.js animation surface (HeroHelix, HeroParticles, AmbientNetField), Mission Control SSE timeline, Delivery Package layout, Jira CSV preview + Traceability Flow Animator |</a:t>
            </a:r>
            <a:br/>
            <a:r>
              <a:t>| Aditya Khapke | Product, QA &amp; Demo Engineering | Demo narrative, Checkout Revamp sample requirement, screenshot tour + demo recovery playbook, Playwright e2e suite, judge-mode scripts, golden-domain contract definition |</a:t>
            </a:r>
          </a:p>
          <a:p>
            <a:pPr>
              <a:spcAft>
                <a:spcPts val="1000"/>
              </a:spcAft>
              <a:defRPr sz="1800"/>
            </a:pPr>
            <a:r>
              <a:t>&gt; *Backend AI + Frontend / UX + Product / QA — the three judges look</a:t>
            </a:r>
            <a:br/>
            <a:r>
              <a:t>&gt; for, with no overlap and no gaps. Split is enforced by the</a:t>
            </a:r>
            <a:br/>
            <a:r>
              <a:t>&gt; CI-gated golden-pipeline contract. Full file ownership in</a:t>
            </a:r>
            <a:br/>
            <a:r>
              <a:t>&gt; README.md → Team.*</a:t>
            </a:r>
          </a:p>
          <a:p>
            <a:pPr>
              <a:spcAft>
                <a:spcPts val="1000"/>
              </a:spcAft>
              <a:defRPr sz="1800"/>
            </a:pPr>
            <a:r>
              <a:t>Roadmap (next 6 weeks — additive, no big-bang rewrite):</a:t>
            </a:r>
          </a:p>
          <a:p>
            <a:pPr>
              <a:spcAft>
                <a:spcPts val="1000"/>
              </a:spcAft>
              <a:defRPr sz="1600"/>
            </a:pPr>
            <a:r>
              <a:t>- Team-managed prompt packs per domain (fintech, healthcare).</a:t>
            </a:r>
            <a:br/>
            <a:r>
              <a:t>- Persistent vector DB swap (FAISS → pgvector → Pinecone) with</a:t>
            </a:r>
            <a:br/>
            <a:r>
              <a:t>  cross-project retrieval governance.</a:t>
            </a:r>
            <a:br/>
            <a:r>
              <a:t>- Two-way Jira / ADO sync + test-execution hooks.</a:t>
            </a:r>
            <a:br/>
            <a:r>
              <a:t>- RBAC + multi-tenant isolation (see docs/PATH_TO_PRODUCTION.md).</a:t>
            </a:r>
            <a:br/>
            <a:r>
              <a:t>- Real-time collaboration on the Delivery Package (multi-cursor edits</a:t>
            </a:r>
            <a:br/>
            <a:r>
              <a:t>  on approval state, scoped to project members).</a:t>
            </a:r>
            <a:br/>
            <a:r>
              <a:t>- Comparison agent — diff a regenerated package against the last</a:t>
            </a:r>
            <a:br/>
            <a:r>
              <a:t>  approved version so PMs can see *"what changed and why"*.</a:t>
            </a:r>
          </a:p>
          <a:p>
            <a:pPr>
              <a:spcAft>
                <a:spcPts val="1000"/>
              </a:spcAft>
              <a:defRPr sz="1800"/>
            </a:pPr>
            <a:r>
              <a:t>Theme alignment (AI for SDLC Productivity):</a:t>
            </a:r>
          </a:p>
          <a:p>
            <a:pPr>
              <a:spcAft>
                <a:spcPts val="1000"/>
              </a:spcAft>
              <a:defRPr sz="1600"/>
            </a:pPr>
            <a:r>
              <a:t>| Hackathon outcome | Helix evidence |</a:t>
            </a:r>
            <a:br/>
            <a:r>
              <a:t>|---|---|</a:t>
            </a:r>
            <a:br/>
            <a:r>
              <a:t>| Increased AI adoption | One product surface for PM · Dev · QA · Tech Lead — no role gets left out |</a:t>
            </a:r>
            <a:br/>
            <a:r>
              <a:t>| Measurable productivity gains | Live ProductivityMetrics (citation_item_rate, hours/cost saved) per run |</a:t>
            </a:r>
            <a:br/>
            <a:r>
              <a:t>| Pipeline of scalable AI solutions | Pluggable agent architecture — add Security Review / Compliance agent without touching UI |</a:t>
            </a:r>
            <a:br/>
            <a:r>
              <a:t>| Innovation culture | Voice-to-spec · multi-agent transparency · per-stage elapsed_ms SSE |</a:t>
            </a:r>
            <a:br/>
            <a:r>
              <a:t>| Leadership visibility | Confidence-scored estimates + readiness gate + risk register |</a:t>
            </a:r>
          </a:p>
          <a:p>
            <a:pPr>
              <a:spcAft>
                <a:spcPts val="1000"/>
              </a:spcAft>
              <a:defRPr sz="1800"/>
            </a:pPr>
            <a:r>
              <a:t>Ask: *Pilot with one regulated team, two sprints, success = **≥40%</a:t>
            </a:r>
            <a:br/>
            <a:r>
              <a:t>reduction in backlog-grooming hours with ≥95% citation coverage**.*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